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72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18360" y="3713593"/>
            <a:ext cx="7955279" cy="61555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300"/>
              </a:spcAft>
              <a:defRPr sz="3400" b="1">
                <a:solidFill>
                  <a:srgbClr val="19487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vs CLOUD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3105" y="3011068"/>
            <a:ext cx="7589520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300"/>
              </a:spcAft>
              <a:defRPr sz="2000" b="1">
                <a:solidFill>
                  <a:srgbClr val="009191"/>
                </a:solidFill>
                <a:latin typeface="Aptos"/>
              </a:defRPr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8B9F6D-B924-4ED1-B457-195C88B64979}"/>
              </a:ext>
            </a:extLst>
          </p:cNvPr>
          <p:cNvSpPr txBox="1"/>
          <p:nvPr/>
        </p:nvSpPr>
        <p:spPr>
          <a:xfrm>
            <a:off x="1958008" y="2283591"/>
            <a:ext cx="9740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CSA1516 – Cloud Computing and Big Data Analytics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B8BBC03-3DE7-4526-B48D-8931F8FD3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91" y="113009"/>
            <a:ext cx="11784070" cy="19433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E72C592-3065-4409-8FBB-74B3A3A699AA}"/>
              </a:ext>
            </a:extLst>
          </p:cNvPr>
          <p:cNvSpPr txBox="1"/>
          <p:nvPr/>
        </p:nvSpPr>
        <p:spPr>
          <a:xfrm>
            <a:off x="3091070" y="4959627"/>
            <a:ext cx="56851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Presented By</a:t>
            </a:r>
          </a:p>
          <a:p>
            <a:pPr algn="ctr"/>
            <a:r>
              <a:rPr lang="en-IN" sz="2400" b="1" dirty="0"/>
              <a:t>Sanjay Manesh M (192511362)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100"/>
              <a:t>01 |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1115568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94870"/>
                </a:solidFill>
                <a:latin typeface="Aptos"/>
              </a:defRPr>
            </a:pPr>
            <a:r>
              <a:rPr sz="3200"/>
              <a:t>What Are Edge and Cloud Computing?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0704"/>
            <a:ext cx="914400" cy="36576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2539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C7C"/>
                </a:solidFill>
                <a:latin typeface="Aptos"/>
              </a:defRPr>
            </a:pPr>
            <a:r>
              <a:rPr sz="1050"/>
              <a:t>2/6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4068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CA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76656" y="1399032"/>
            <a:ext cx="5184648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09191"/>
                </a:solidFill>
                <a:latin typeface="Aptos"/>
              </a:defRPr>
            </a:pPr>
            <a:r>
              <a:rPr lang="en-IN" dirty="0"/>
              <a:t>   </a:t>
            </a:r>
            <a:r>
              <a:rPr dirty="0"/>
              <a:t>EDGE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493776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94870"/>
                </a:solidFill>
                <a:latin typeface="Aptos"/>
              </a:defRPr>
            </a:pPr>
            <a:r>
              <a:t>Processing close to where data is 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4892040" cy="215905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Runs on sensors, IoT devices, gateways or nearby servers.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Responds quickly because data need not travel to a distant data centre first.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Filters or analyses data locally and can work through network interruptions.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Useful for robotics, industrial control, smart cameras and connected vehicles.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19472"/>
            <a:ext cx="1463040" cy="530352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86968" y="4974336"/>
            <a:ext cx="1335024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100"/>
              <a:t>LOW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919472"/>
            <a:ext cx="1508760" cy="530352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2487168" y="4974336"/>
            <a:ext cx="1380743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100"/>
              <a:t>LOCAL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44068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CA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345936" y="1399032"/>
            <a:ext cx="5184648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3182CE"/>
                </a:solidFill>
                <a:latin typeface="Aptos"/>
              </a:defRPr>
            </a:pPr>
            <a:r>
              <a:rPr lang="en-IN" dirty="0"/>
              <a:t>    </a:t>
            </a:r>
            <a:r>
              <a:rPr dirty="0"/>
              <a:t>CLOUD COMPUTING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737360"/>
            <a:ext cx="493776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94870"/>
                </a:solidFill>
                <a:latin typeface="Aptos"/>
              </a:defRPr>
            </a:pPr>
            <a:r>
              <a:t>Processing in remote, managed data centres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267712"/>
            <a:ext cx="4892040" cy="191283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Delivers servers, storage, databases, networking and software over a network.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Scales resources up or down as demand changes.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Combines data from many devices and locations for large-scale analysis.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Useful for data lakes, dashboards, machine-learning training and long-term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919472"/>
            <a:ext cx="1463040" cy="530352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556248" y="4974336"/>
            <a:ext cx="1335024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3182CE"/>
                </a:solidFill>
                <a:latin typeface="Aptos"/>
              </a:defRPr>
            </a:pPr>
            <a:r>
              <a:rPr sz="1100"/>
              <a:t>ELASTIC SCALE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919472"/>
            <a:ext cx="1463040" cy="530352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8156448" y="4974336"/>
            <a:ext cx="1335024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3182CE"/>
                </a:solidFill>
                <a:latin typeface="Aptos"/>
              </a:defRPr>
            </a:pPr>
            <a:r>
              <a:rPr sz="1100"/>
              <a:t>GLOBAL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200"/>
              <a:t>02 |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11155680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94870"/>
                </a:solidFill>
                <a:latin typeface="Aptos"/>
              </a:defRPr>
            </a:pPr>
            <a:r>
              <a:rPr sz="3600"/>
              <a:t>Hybrid Edge–Cloud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0704"/>
            <a:ext cx="914400" cy="36576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C7C"/>
                </a:solidFill>
                <a:latin typeface="Aptos"/>
              </a:defRPr>
            </a:pPr>
            <a:r>
              <a:rPr sz="1100"/>
              <a:t>3/6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828800"/>
            <a:ext cx="1993392" cy="105156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448056" y="1883664"/>
            <a:ext cx="1865376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200"/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847088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200"/>
              <a:t>Sensors • IoT •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1828800"/>
            <a:ext cx="1993392" cy="105156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2788920" y="1883664"/>
            <a:ext cx="1865376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200"/>
              <a:t>EDGE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2157984"/>
            <a:ext cx="1847088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200"/>
              <a:t>Filter • detect • 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1828800"/>
            <a:ext cx="1993392" cy="105156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9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5129784" y="1883664"/>
            <a:ext cx="1865376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D97E23"/>
                </a:solidFill>
                <a:latin typeface="Aptos"/>
              </a:defRPr>
            </a:pPr>
            <a:r>
              <a:rPr sz="1200"/>
              <a:t>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157984"/>
            <a:ext cx="1847088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200"/>
              <a:t>Wi-Fi • 5G • Ethernet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28800"/>
            <a:ext cx="1993392" cy="105156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7470648" y="1883664"/>
            <a:ext cx="1865376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3182CE"/>
                </a:solidFill>
                <a:latin typeface="Aptos"/>
              </a:defRPr>
            </a:pPr>
            <a:r>
              <a:rPr sz="1200"/>
              <a:t>CLOUD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157984"/>
            <a:ext cx="1847088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200"/>
              <a:t>Store • compute • manage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47504" y="1828800"/>
            <a:ext cx="1993392" cy="105156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9811512" y="1883664"/>
            <a:ext cx="1865376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3182CE"/>
                </a:solidFill>
                <a:latin typeface="Aptos"/>
              </a:defRPr>
            </a:pPr>
            <a:r>
              <a:rPr sz="1200"/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0656" y="2157984"/>
            <a:ext cx="1847088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200"/>
              <a:t>Stream + batch • ML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14016" y="2350008"/>
            <a:ext cx="256032" cy="0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54880" y="2350008"/>
            <a:ext cx="256032" cy="0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95744" y="2350008"/>
            <a:ext cx="256031" cy="0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36608" y="2350008"/>
            <a:ext cx="256032" cy="0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4360" y="3657600"/>
            <a:ext cx="534924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CA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722376" y="3730752"/>
            <a:ext cx="5093207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09191"/>
                </a:solidFill>
                <a:latin typeface="Aptos"/>
              </a:defRPr>
            </a:pPr>
            <a:r>
              <a:rPr sz="1600"/>
              <a:t>EDGE PATH — IMMEDIATE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050791"/>
            <a:ext cx="4937760" cy="109722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Sensor reading → local rule/model → instant alert or machine action.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Only relevant events, features or summaries are transmitted.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3657600"/>
            <a:ext cx="534924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CA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6364224" y="3730752"/>
            <a:ext cx="5093207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3182CE"/>
                </a:solidFill>
                <a:latin typeface="Aptos"/>
              </a:defRPr>
            </a:pPr>
            <a:r>
              <a:rPr sz="1600"/>
              <a:t>CLOUD PATH — LARGE-SCALE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050791"/>
            <a:ext cx="4937760" cy="109722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Collected data → data lake/warehouse → analytics and model training.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/>
              <a:t>• Updated models or policies can be sent back to edge devices.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760720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94870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448056"/>
            <a:ext cx="1115568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94870"/>
                </a:solidFill>
                <a:latin typeface="Aptos"/>
              </a:defRPr>
            </a:pPr>
            <a:r>
              <a:rPr sz="2800" dirty="0"/>
              <a:t>Edge vs Cloud: Technical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0704"/>
            <a:ext cx="914400" cy="36576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2308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C7C"/>
                </a:solidFill>
                <a:latin typeface="Aptos"/>
              </a:defRPr>
            </a:pPr>
            <a:r>
              <a:rPr sz="900"/>
              <a:t>4/6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16617"/>
              </p:ext>
            </p:extLst>
          </p:nvPr>
        </p:nvGraphicFramePr>
        <p:xfrm>
          <a:off x="566928" y="1325880"/>
          <a:ext cx="11064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FACTOR</a:t>
                      </a:r>
                    </a:p>
                  </a:txBody>
                  <a:tcPr>
                    <a:solidFill>
                      <a:srgbClr val="1948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EDGE COMPUTING</a:t>
                      </a:r>
                    </a:p>
                  </a:txBody>
                  <a:tcPr>
                    <a:solidFill>
                      <a:srgbClr val="0091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CLOUD COMPUTING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4870"/>
                          </a:solidFill>
                          <a:latin typeface="Aptos"/>
                        </a:defRPr>
                      </a:pPr>
                      <a:r>
                        <a:rPr sz="1600"/>
                        <a:t>Processing location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Device, gateway or local server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Remote data centre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4870"/>
                          </a:solidFill>
                          <a:latin typeface="Aptos"/>
                        </a:defRPr>
                      </a:pPr>
                      <a:r>
                        <a:rPr sz="1600"/>
                        <a:t>Latency</a:t>
                      </a:r>
                    </a:p>
                  </a:txBody>
                  <a:tcPr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Low for local decisions</a:t>
                      </a:r>
                    </a:p>
                  </a:txBody>
                  <a:tcPr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 dirty="0"/>
                        <a:t>Network round-trip adds delay</a:t>
                      </a:r>
                    </a:p>
                  </a:txBody>
                  <a:tcPr marR="73152" marT="36576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4870"/>
                          </a:solidFill>
                          <a:latin typeface="Aptos"/>
                        </a:defRPr>
                      </a:pPr>
                      <a:r>
                        <a:rPr sz="1600"/>
                        <a:t>Resources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Limited CPU, memory and power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Large, elastic compute and storage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4870"/>
                          </a:solidFill>
                          <a:latin typeface="Aptos"/>
                        </a:defRPr>
                      </a:pPr>
                      <a:r>
                        <a:rPr sz="1600"/>
                        <a:t>Bandwidth</a:t>
                      </a:r>
                    </a:p>
                  </a:txBody>
                  <a:tcPr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Filtering can reduce traffic</a:t>
                      </a:r>
                    </a:p>
                  </a:txBody>
                  <a:tcPr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May ingest high-volume raw data</a:t>
                      </a:r>
                    </a:p>
                  </a:txBody>
                  <a:tcPr marR="73152" marT="36576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4870"/>
                          </a:solidFill>
                          <a:latin typeface="Aptos"/>
                        </a:defRPr>
                      </a:pPr>
                      <a:r>
                        <a:rPr sz="1600"/>
                        <a:t>Connectivity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Some tasks continue offline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Remote services need connectivity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4870"/>
                          </a:solidFill>
                          <a:latin typeface="Aptos"/>
                        </a:defRPr>
                      </a:pPr>
                      <a:r>
                        <a:rPr sz="1600"/>
                        <a:t>Analytics scope</a:t>
                      </a:r>
                    </a:p>
                  </a:txBody>
                  <a:tcPr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Local context and rapid inference</a:t>
                      </a:r>
                    </a:p>
                  </a:txBody>
                  <a:tcPr marR="73152" marT="36576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Cross-site trends and large-scale training</a:t>
                      </a:r>
                    </a:p>
                  </a:txBody>
                  <a:tcPr marR="73152" marT="36576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4870"/>
                          </a:solidFill>
                          <a:latin typeface="Aptos"/>
                        </a:defRPr>
                      </a:pPr>
                      <a:r>
                        <a:rPr sz="1600"/>
                        <a:t>Challenges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/>
                        <a:t>Fleet updates, device limits, physical security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D2B3A"/>
                          </a:solidFill>
                          <a:latin typeface="Aptos"/>
                        </a:defRPr>
                      </a:pPr>
                      <a:r>
                        <a:rPr sz="1600" dirty="0"/>
                        <a:t>Network cost, governance, service dependency</a:t>
                      </a:r>
                    </a:p>
                  </a:txBody>
                  <a:tcPr marR="73152" marT="36576" marB="18288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200">
                <a:latin typeface="+mj-lt"/>
              </a:rPr>
              <a:t>04 | CLOUD +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11155680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94870"/>
                </a:solidFill>
                <a:latin typeface="Aptos"/>
              </a:defRPr>
            </a:pPr>
            <a:r>
              <a:rPr sz="3600">
                <a:latin typeface="+mj-lt"/>
              </a:rPr>
              <a:t>Big Data Analytics: From Raw Data to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0704"/>
            <a:ext cx="914400" cy="36576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C7C"/>
                </a:solidFill>
                <a:latin typeface="Aptos"/>
              </a:defRPr>
            </a:pPr>
            <a:r>
              <a:rPr sz="1100">
                <a:latin typeface="+mj-lt"/>
              </a:rPr>
              <a:t>5/6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6903720" cy="4553712"/>
          </a:xfrm>
          <a:prstGeom prst="roundRect">
            <a:avLst/>
          </a:prstGeom>
          <a:solidFill>
            <a:srgbClr val="F4F7FA"/>
          </a:solidFill>
          <a:ln>
            <a:solidFill>
              <a:srgbClr val="CA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" y="1399032"/>
            <a:ext cx="6647688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3182CE"/>
                </a:solidFill>
                <a:latin typeface="Aptos"/>
              </a:defRPr>
            </a:pPr>
            <a:r>
              <a:rPr sz="1600">
                <a:latin typeface="+mj-lt"/>
              </a:rPr>
              <a:t>CLOUD-BASED BIG DATA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2240280" cy="54864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3815" y="1810512"/>
            <a:ext cx="2112264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3182CE"/>
                </a:solidFill>
                <a:latin typeface="Aptos"/>
              </a:defRPr>
            </a:pPr>
            <a:r>
              <a:rPr sz="1200">
                <a:latin typeface="+mj-lt"/>
              </a:rPr>
              <a:t>1 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856231"/>
            <a:ext cx="38862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>
                <a:latin typeface="+mj-lt"/>
              </a:rPr>
              <a:t>IoT streams, logs, transactions, files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2313432"/>
            <a:ext cx="0" cy="164592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8" y="2523744"/>
            <a:ext cx="2240280" cy="54864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3815" y="2578608"/>
            <a:ext cx="2112264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3182CE"/>
                </a:solidFill>
                <a:latin typeface="Aptos"/>
              </a:defRPr>
            </a:pPr>
            <a:r>
              <a:rPr sz="1200">
                <a:latin typeface="+mj-lt"/>
              </a:rPr>
              <a:t>2 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2624327"/>
            <a:ext cx="38862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>
                <a:latin typeface="+mj-lt"/>
              </a:rPr>
              <a:t>Object storage, data lake, warehouse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65376" y="3081527"/>
            <a:ext cx="0" cy="164593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8" y="3291839"/>
            <a:ext cx="2240280" cy="54864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3815" y="3346703"/>
            <a:ext cx="2112264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3182CE"/>
                </a:solidFill>
                <a:latin typeface="Aptos"/>
              </a:defRPr>
            </a:pPr>
            <a:r>
              <a:rPr sz="1200">
                <a:latin typeface="+mj-lt"/>
              </a:rPr>
              <a:t>3 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3392423"/>
            <a:ext cx="38862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>
                <a:latin typeface="+mj-lt"/>
              </a:rPr>
              <a:t>Distributed batch + stream processing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65376" y="3849624"/>
            <a:ext cx="0" cy="164591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4059935"/>
            <a:ext cx="2240280" cy="54864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3815" y="4114799"/>
            <a:ext cx="2112264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3182CE"/>
                </a:solidFill>
                <a:latin typeface="Aptos"/>
              </a:defRPr>
            </a:pPr>
            <a:r>
              <a:rPr sz="1200">
                <a:latin typeface="+mj-lt"/>
              </a:rPr>
              <a:t>4  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4160520"/>
            <a:ext cx="38862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 dirty="0">
                <a:latin typeface="+mj-lt"/>
              </a:rPr>
              <a:t>SQL, statistics, machine learning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65376" y="4617720"/>
            <a:ext cx="0" cy="164592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8" y="4828031"/>
            <a:ext cx="2240280" cy="54864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5" y="4882895"/>
            <a:ext cx="2112264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3182CE"/>
                </a:solidFill>
                <a:latin typeface="Aptos"/>
              </a:defRPr>
            </a:pPr>
            <a:r>
              <a:rPr sz="1200">
                <a:latin typeface="+mj-lt"/>
              </a:rPr>
              <a:t>5  DELIVER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4928616"/>
            <a:ext cx="38862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>
                <a:latin typeface="+mj-lt"/>
              </a:rPr>
              <a:t>Dashboards, alerts, APIs, predictions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1325880"/>
            <a:ext cx="3977639" cy="4553712"/>
          </a:xfrm>
          <a:prstGeom prst="roundRect">
            <a:avLst/>
          </a:prstGeom>
          <a:solidFill>
            <a:srgbClr val="F4F7FA"/>
          </a:solidFill>
          <a:ln>
            <a:solidFill>
              <a:srgbClr val="CA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27264" y="1399032"/>
            <a:ext cx="3721607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D97E23"/>
                </a:solidFill>
                <a:latin typeface="Aptos"/>
              </a:defRPr>
            </a:pPr>
            <a:r>
              <a:rPr sz="1600">
                <a:latin typeface="+mj-lt"/>
              </a:rPr>
              <a:t>ROLE OF 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1764792"/>
            <a:ext cx="3611880" cy="268996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>
                <a:latin typeface="+mj-lt"/>
              </a:rPr>
              <a:t>• Velocity: detect events close to the source.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>
                <a:latin typeface="+mj-lt"/>
              </a:rPr>
              <a:t>• Volume: send summaries instead of every raw reading when appropriate.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>
                <a:latin typeface="+mj-lt"/>
              </a:rPr>
              <a:t>• Variety: combine sensor, image, log and business data in the cloud.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>
                <a:latin typeface="+mj-lt"/>
              </a:rPr>
              <a:t>• Machine learning: train models centrally on larger historical datasets.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600">
                <a:latin typeface="+mj-lt"/>
              </a:rPr>
              <a:t>• Hybrid loop: deploy compact models to edge for fast inference.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80760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200">
                <a:latin typeface="+mj-lt"/>
              </a:rPr>
              <a:t>Big data is often summarized by Volume, Velocity and Variety; Veracity and Value are also commonly included.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100"/>
              <a:t>05 |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1115568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94870"/>
                </a:solidFill>
                <a:latin typeface="Aptos"/>
              </a:defRPr>
            </a:pPr>
            <a:r>
              <a:rPr sz="3200"/>
              <a:t>Use Case: Predictive Maintenance in Smart Manufacturing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0704"/>
            <a:ext cx="914400" cy="36576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5B6C7C"/>
                </a:solidFill>
                <a:latin typeface="Aptos"/>
              </a:defRPr>
            </a:pPr>
            <a:r>
              <a:rPr sz="1050"/>
              <a:t>6/6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86400" cy="4553712"/>
          </a:xfrm>
          <a:prstGeom prst="roundRect">
            <a:avLst/>
          </a:prstGeom>
          <a:solidFill>
            <a:srgbClr val="F4F7FA"/>
          </a:solidFill>
          <a:ln>
            <a:solidFill>
              <a:srgbClr val="CA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76656" y="1399032"/>
            <a:ext cx="5230368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09191"/>
                </a:solidFill>
                <a:latin typeface="Aptos"/>
              </a:defRPr>
            </a:pPr>
            <a:r>
              <a:rPr lang="en-IN" sz="1400" dirty="0"/>
              <a:t>   </a:t>
            </a:r>
            <a:r>
              <a:rPr sz="1400" dirty="0"/>
              <a:t>WORKING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55648"/>
            <a:ext cx="1874519" cy="557784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905256" y="1810512"/>
            <a:ext cx="1746503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100"/>
              <a:t>Machine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828800"/>
            <a:ext cx="28803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100"/>
              <a:t>Vibration • temperature • current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2322576"/>
            <a:ext cx="0" cy="155448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" y="2523744"/>
            <a:ext cx="1874519" cy="557784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905256" y="2578608"/>
            <a:ext cx="1746503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100"/>
              <a:t>Edge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596896"/>
            <a:ext cx="28803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100"/>
              <a:t>Detect anomaly; trigger local alert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3090672"/>
            <a:ext cx="0" cy="155448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3291839"/>
            <a:ext cx="1874519" cy="557784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905256" y="3346703"/>
            <a:ext cx="1746503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100"/>
              <a:t>Cloud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364991"/>
            <a:ext cx="28803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100"/>
              <a:t>Keep history from many machines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83080" y="3858768"/>
            <a:ext cx="0" cy="155447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248" y="4059935"/>
            <a:ext cx="1874519" cy="557784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905256" y="4114799"/>
            <a:ext cx="1746503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100"/>
              <a:t>Big data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133087"/>
            <a:ext cx="28803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100"/>
              <a:t>Find patterns; train failure model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83080" y="4626864"/>
            <a:ext cx="0" cy="155448"/>
          </a:xfrm>
          <a:prstGeom prst="line">
            <a:avLst/>
          </a:prstGeom>
          <a:ln w="17780">
            <a:solidFill>
              <a:srgbClr val="5B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" y="4828031"/>
            <a:ext cx="1874519" cy="557784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905256" y="4882895"/>
            <a:ext cx="1746503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1"/>
                </a:solidFill>
                <a:latin typeface="Aptos"/>
              </a:defRPr>
            </a:pPr>
            <a:r>
              <a:rPr sz="1100"/>
              <a:t>Model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4901183"/>
            <a:ext cx="28803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D2B3A"/>
                </a:solidFill>
                <a:latin typeface="Aptos"/>
              </a:defRPr>
            </a:pPr>
            <a:r>
              <a:rPr sz="1100"/>
              <a:t>Send model to gateway for local inference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325880"/>
            <a:ext cx="5394960" cy="4553712"/>
          </a:xfrm>
          <a:prstGeom prst="roundRect">
            <a:avLst/>
          </a:prstGeom>
          <a:solidFill>
            <a:srgbClr val="F4F7FA"/>
          </a:solidFill>
          <a:ln>
            <a:solidFill>
              <a:srgbClr val="CA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391655" y="1418910"/>
            <a:ext cx="5138928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3182CE"/>
                </a:solidFill>
                <a:latin typeface="Aptos"/>
              </a:defRPr>
            </a:pPr>
            <a:r>
              <a:rPr lang="en-IN" sz="1400" dirty="0"/>
              <a:t>    </a:t>
            </a:r>
            <a:r>
              <a:rPr sz="1400" dirty="0"/>
              <a:t>DESIGN TAKEAWAYS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1764792"/>
            <a:ext cx="4892040" cy="238219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400"/>
              <a:t>• Choose edge for rapid action, offline resilience and local data filtering.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400"/>
              <a:t>• Choose cloud for long-term storage, fleet-wide comparison and compute-heavy training.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400"/>
              <a:t>• Use hybrid architecture when real-time response and global learning are both needed.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400"/>
              <a:t>• Protect device identity, APIs, data in transit and at rest, and model updates.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D2B3A"/>
                </a:solidFill>
                <a:latin typeface="Aptos"/>
              </a:defRPr>
            </a:pPr>
            <a:r>
              <a:rPr sz="1400"/>
              <a:t>• Monitor latency, data quality, model drift, availability and cloud spend.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7DE672-92D5-4E2D-995E-82837FB07ECD}"/>
              </a:ext>
            </a:extLst>
          </p:cNvPr>
          <p:cNvSpPr txBox="1"/>
          <p:nvPr/>
        </p:nvSpPr>
        <p:spPr>
          <a:xfrm>
            <a:off x="502920" y="428178"/>
            <a:ext cx="1115568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94870"/>
                </a:solidFill>
                <a:latin typeface="Aptos"/>
              </a:defRPr>
            </a:pPr>
            <a:r>
              <a:rPr sz="3200"/>
              <a:t>Use Case: Predictive Maintenance in Smart Manufacturing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655</Words>
  <Application>Microsoft Office PowerPoint</Application>
  <PresentationFormat>Widescreen</PresentationFormat>
  <Paragraphs>111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Sanjay Manesh</cp:lastModifiedBy>
  <cp:revision>4</cp:revision>
  <dcterms:created xsi:type="dcterms:W3CDTF">2013-01-27T09:14:16Z</dcterms:created>
  <dcterms:modified xsi:type="dcterms:W3CDTF">2026-10-12T05:25:06Z</dcterms:modified>
  <cp:category/>
</cp:coreProperties>
</file>